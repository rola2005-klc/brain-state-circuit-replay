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2984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EF4FF"/>
                </a:solidFill>
                <a:latin typeface="Aptos Display"/>
              </a:defRPr>
            </a:pPr>
            <a:r>
              <a:t>Brain-State Circuit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1704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CF7D4"/>
                </a:solidFill>
                <a:latin typeface="Aptos"/>
              </a:defRPr>
            </a:pPr>
            <a:r>
              <a:t>Photos record what we saw. Can future interfaces reconstruct what we were?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749039"/>
            <a:ext cx="4389120" cy="502920"/>
          </a:xfrm>
          <a:prstGeom prst="roundRect">
            <a:avLst/>
          </a:prstGeom>
          <a:solidFill>
            <a:srgbClr val="8D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50A10"/>
                </a:solidFill>
              </a:defRPr>
            </a:pPr>
            <a:r>
              <a:t>speculative neuroscience × BCI × memory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663440"/>
            <a:ext cx="7498079" cy="1463040"/>
          </a:xfrm>
          <a:prstGeom prst="roundRect">
            <a:avLst/>
          </a:prstGeom>
          <a:solidFill>
            <a:srgbClr val="12182A"/>
          </a:solidFill>
          <a:ln>
            <a:solidFill>
              <a:srgbClr val="37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4937759"/>
            <a:ext cx="68579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F7D4"/>
                </a:solidFill>
                <a:latin typeface="Aptos"/>
              </a:defRPr>
            </a:pPr>
            <a:r>
              <a:t>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5440679"/>
            <a:ext cx="6857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4C2DA"/>
                </a:solidFill>
                <a:latin typeface="Aptos"/>
              </a:defRPr>
            </a:pPr>
            <a:r>
              <a:t>A foundation-first presentation: the product is the thesis and scientific framing before a polished interactive feature.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316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EF4FF"/>
                </a:solidFill>
                <a:latin typeface="Aptos Display"/>
              </a:defRPr>
            </a:pPr>
            <a:r>
              <a:t>The Photo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Photos preserve the outside of a moment.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The lost part is internal: attention, emotion, body state, meaning.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Thesis: photos record what we saw; brain-state replay asks whether we can reconstruct what we were.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5669280" cy="5029200"/>
          </a:xfrm>
          <a:prstGeom prst="roundRect">
            <a:avLst/>
          </a:prstGeom>
          <a:solidFill>
            <a:srgbClr val="12182A"/>
          </a:solidFill>
          <a:ln>
            <a:solidFill>
              <a:srgbClr val="37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21031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F7D4"/>
                </a:solidFill>
                <a:latin typeface="Aptos"/>
              </a:defRPr>
            </a:pPr>
            <a:r>
              <a:t>Speaker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6060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4C2DA"/>
                </a:solidFill>
                <a:latin typeface="Aptos"/>
              </a:defRPr>
            </a:pPr>
            <a:r>
              <a:t>Start with the familiar gap: photos show what happened, but not what it felt like to be that version of yourself.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7086600"/>
            <a:ext cx="1920240" cy="502920"/>
          </a:xfrm>
          <a:prstGeom prst="roundRect">
            <a:avLst/>
          </a:prstGeom>
          <a:solidFill>
            <a:srgbClr val="7CF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50A10"/>
                </a:solidFill>
              </a:defRPr>
            </a:pPr>
            <a:r>
              <a:t>foundation-first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316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EF4FF"/>
                </a:solidFill>
                <a:latin typeface="Aptos Display"/>
              </a:defRPr>
            </a:pPr>
            <a:r>
              <a:t>What Is a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Not an image file or single memory slot.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A distributed brain-body state: sensory, hippocampal, emotional, interoceptive, attentional.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Remembering is reconstruction in the present.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5669280" cy="5029200"/>
          </a:xfrm>
          <a:prstGeom prst="roundRect">
            <a:avLst/>
          </a:prstGeom>
          <a:solidFill>
            <a:srgbClr val="12182A"/>
          </a:solidFill>
          <a:ln>
            <a:solidFill>
              <a:srgbClr val="37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21031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F7D4"/>
                </a:solidFill>
                <a:latin typeface="Aptos"/>
              </a:defRPr>
            </a:pPr>
            <a:r>
              <a:t>Speaker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6060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4C2DA"/>
                </a:solidFill>
                <a:latin typeface="Aptos"/>
              </a:defRPr>
            </a:pPr>
            <a:r>
              <a:t>Define the unit carefully: a moment is a state across systems, so any replay is partial and reconstructed.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7086600"/>
            <a:ext cx="1920240" cy="502920"/>
          </a:xfrm>
          <a:prstGeom prst="roundRect">
            <a:avLst/>
          </a:prstGeom>
          <a:solidFill>
            <a:srgbClr val="7CF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50A10"/>
                </a:solidFill>
              </a:defRPr>
            </a:pPr>
            <a:r>
              <a:t>foundation-first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316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EF4FF"/>
                </a:solidFill>
                <a:latin typeface="Aptos Display"/>
              </a:defRPr>
            </a:pPr>
            <a:r>
              <a:t>Plasticity as the Native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Experience changes synapses and circuit dynamics.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LTP/plasticity are part of the biological memory substrate.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No previous external brain-state recording is strictly required.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Hard problem: retroactive addressability and controlled reactivation.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5669280" cy="5029200"/>
          </a:xfrm>
          <a:prstGeom prst="roundRect">
            <a:avLst/>
          </a:prstGeom>
          <a:solidFill>
            <a:srgbClr val="12182A"/>
          </a:solidFill>
          <a:ln>
            <a:solidFill>
              <a:srgbClr val="37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21031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F7D4"/>
                </a:solidFill>
                <a:latin typeface="Aptos"/>
              </a:defRPr>
            </a:pPr>
            <a:r>
              <a:t>Speaker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6060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4C2DA"/>
                </a:solidFill>
                <a:latin typeface="Aptos"/>
              </a:defRPr>
            </a:pPr>
            <a:r>
              <a:t>This is the key pivot: the nervous system already carries traces; the challenge is finding and safely reactivating the right trace.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7086600"/>
            <a:ext cx="1920240" cy="502920"/>
          </a:xfrm>
          <a:prstGeom prst="roundRect">
            <a:avLst/>
          </a:prstGeom>
          <a:solidFill>
            <a:srgbClr val="7CF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50A10"/>
                </a:solidFill>
              </a:defRPr>
            </a:pPr>
            <a:r>
              <a:t>foundation-first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316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EF4FF"/>
                </a:solidFill>
                <a:latin typeface="Aptos Display"/>
              </a:defRPr>
            </a:pPr>
            <a:r>
              <a:t>Three Replay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Cue-triggered recall and Targeted Memory Reactivation are the realistic floor.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Direct engram reactivation is a frontier mechanism.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Guided endogenous replay is the long-term vision.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All modes are partial state nudges, not exact playback.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5669280" cy="5029200"/>
          </a:xfrm>
          <a:prstGeom prst="roundRect">
            <a:avLst/>
          </a:prstGeom>
          <a:solidFill>
            <a:srgbClr val="12182A"/>
          </a:solidFill>
          <a:ln>
            <a:solidFill>
              <a:srgbClr val="37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21031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F7D4"/>
                </a:solidFill>
                <a:latin typeface="Aptos"/>
              </a:defRPr>
            </a:pPr>
            <a:r>
              <a:t>Speaker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6060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4C2DA"/>
                </a:solidFill>
                <a:latin typeface="Aptos"/>
              </a:defRPr>
            </a:pPr>
            <a:r>
              <a:t>Ground the project in cue-triggered recall/TMR, then distinguish the speculative frontier clearly.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7086600"/>
            <a:ext cx="1920240" cy="502920"/>
          </a:xfrm>
          <a:prstGeom prst="roundRect">
            <a:avLst/>
          </a:prstGeom>
          <a:solidFill>
            <a:srgbClr val="7CF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50A10"/>
                </a:solidFill>
              </a:defRPr>
            </a:pPr>
            <a:r>
              <a:t>foundation-first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316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EF4FF"/>
                </a:solidFill>
                <a:latin typeface="Aptos Display"/>
              </a:defRPr>
            </a:pPr>
            <a:r>
              <a:t>EEG Helps, But Has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EEG is non-invasive and temporally useful.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It can track broad state correlates.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It cannot read synaptic traces or identify engrams.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It cannot provide exact visual memory playback.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5669280" cy="5029200"/>
          </a:xfrm>
          <a:prstGeom prst="roundRect">
            <a:avLst/>
          </a:prstGeom>
          <a:solidFill>
            <a:srgbClr val="12182A"/>
          </a:solidFill>
          <a:ln>
            <a:solidFill>
              <a:srgbClr val="37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21031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F7D4"/>
                </a:solidFill>
                <a:latin typeface="Aptos"/>
              </a:defRPr>
            </a:pPr>
            <a:r>
              <a:t>Speaker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6060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4C2DA"/>
                </a:solidFill>
                <a:latin typeface="Aptos"/>
              </a:defRPr>
            </a:pPr>
            <a:r>
              <a:t>This protects the science: EEG can support monitoring/neurofeedback, not direct memory reading.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7086600"/>
            <a:ext cx="1920240" cy="502920"/>
          </a:xfrm>
          <a:prstGeom prst="roundRect">
            <a:avLst/>
          </a:prstGeom>
          <a:solidFill>
            <a:srgbClr val="7CF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50A10"/>
                </a:solidFill>
              </a:defRPr>
            </a:pPr>
            <a:r>
              <a:t>foundation-first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316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EF4FF"/>
                </a:solidFill>
                <a:latin typeface="Aptos Display"/>
              </a:defRPr>
            </a:pPr>
            <a:r>
              <a:t>Current Repo: Simulation +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Conceptual target states: calm, autobiographical memory, flow, emotional memory.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Protocols: cueing, neurofeedback, DBS-like modulation, MIMO-inspired correction.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Metrics: similarity, reconstruction error, safety risk.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Synthetic data and tests make assumptions explicit.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5669280" cy="5029200"/>
          </a:xfrm>
          <a:prstGeom prst="roundRect">
            <a:avLst/>
          </a:prstGeom>
          <a:solidFill>
            <a:srgbClr val="12182A"/>
          </a:solidFill>
          <a:ln>
            <a:solidFill>
              <a:srgbClr val="37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21031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F7D4"/>
                </a:solidFill>
                <a:latin typeface="Aptos"/>
              </a:defRPr>
            </a:pPr>
            <a:r>
              <a:t>Speaker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6060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4C2DA"/>
                </a:solidFill>
                <a:latin typeface="Aptos"/>
              </a:defRPr>
            </a:pPr>
            <a:r>
              <a:t>The demo is supporting evidence. It shows a reproducible vocabulary, not biological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7086600"/>
            <a:ext cx="1920240" cy="502920"/>
          </a:xfrm>
          <a:prstGeom prst="roundRect">
            <a:avLst/>
          </a:prstGeom>
          <a:solidFill>
            <a:srgbClr val="7CF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50A10"/>
                </a:solidFill>
              </a:defRPr>
            </a:pPr>
            <a:r>
              <a:t>foundation-first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316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EF4FF"/>
                </a:solidFill>
                <a:latin typeface="Aptos Display"/>
              </a:defRPr>
            </a:pPr>
            <a:r>
              <a:t>Scientific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No literal time travel.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No medical or therapeutic claim.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No exact human memory replay.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No exact visual playback.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No claim that EEG reads synaptic traces.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5669280" cy="5029200"/>
          </a:xfrm>
          <a:prstGeom prst="roundRect">
            <a:avLst/>
          </a:prstGeom>
          <a:solidFill>
            <a:srgbClr val="12182A"/>
          </a:solidFill>
          <a:ln>
            <a:solidFill>
              <a:srgbClr val="37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21031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F7D4"/>
                </a:solidFill>
                <a:latin typeface="Aptos"/>
              </a:defRPr>
            </a:pPr>
            <a:r>
              <a:t>Speaker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6060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4C2DA"/>
                </a:solidFill>
                <a:latin typeface="Aptos"/>
              </a:defRPr>
            </a:pPr>
            <a:r>
              <a:t>State what the project is not, so the ambitious parts sound credible instead of overhyped.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7086600"/>
            <a:ext cx="1920240" cy="502920"/>
          </a:xfrm>
          <a:prstGeom prst="roundRect">
            <a:avLst/>
          </a:prstGeom>
          <a:solidFill>
            <a:srgbClr val="7CF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50A10"/>
                </a:solidFill>
              </a:defRPr>
            </a:pPr>
            <a:r>
              <a:t>foundation-first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316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EF4FF"/>
                </a:solidFill>
                <a:latin typeface="Aptos Display"/>
              </a:defRPr>
            </a:pPr>
            <a:r>
              <a:t>Roadmap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Build stronger literature map and citation table.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Add attractor-state and synthetic EEG-like models.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Keep simulation secondary to the thesis.</a:t>
            </a:r>
          </a:p>
          <a:p>
            <a:pPr>
              <a:spcAft>
                <a:spcPts val="1000"/>
              </a:spcAft>
              <a:defRPr sz="2100">
                <a:solidFill>
                  <a:srgbClr val="EEF4FF"/>
                </a:solidFill>
                <a:latin typeface="Aptos"/>
              </a:defRPr>
            </a:pPr>
            <a:r>
              <a:t>Ethics: consent, identity, emotional risk, false memory, manipulation.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5669280" cy="5029200"/>
          </a:xfrm>
          <a:prstGeom prst="roundRect">
            <a:avLst/>
          </a:prstGeom>
          <a:solidFill>
            <a:srgbClr val="12182A"/>
          </a:solidFill>
          <a:ln>
            <a:solidFill>
              <a:srgbClr val="37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21031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F7D4"/>
                </a:solidFill>
                <a:latin typeface="Aptos"/>
              </a:defRPr>
            </a:pPr>
            <a:r>
              <a:t>Speaker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6060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4C2DA"/>
                </a:solidFill>
                <a:latin typeface="Aptos"/>
              </a:defRPr>
            </a:pPr>
            <a:r>
              <a:t>Close with why foundation matters: if recall can be intensified, consent and safety become core design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7086600"/>
            <a:ext cx="1920240" cy="502920"/>
          </a:xfrm>
          <a:prstGeom prst="roundRect">
            <a:avLst/>
          </a:prstGeom>
          <a:solidFill>
            <a:srgbClr val="7CF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50A10"/>
                </a:solidFill>
              </a:defRPr>
            </a:pPr>
            <a:r>
              <a:t>foundation-first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